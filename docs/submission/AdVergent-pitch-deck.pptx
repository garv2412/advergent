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cb8e5624774279" /><Relationship Type="http://schemas.openxmlformats.org/officeDocument/2006/relationships/extended-properties" Target="/docProps/app.xml" Id="R1d61d629e9614b5e" /><Relationship Type="http://schemas.openxmlformats.org/officeDocument/2006/relationships/officeDocument" Target="/ppt/presentation.xml" Id="R94ea5be99f6245b2" /></Relationships>
</file>

<file path=ppt/presentation.xml><?xml version="1.0" encoding="utf-8"?>
<p:presentation xmlns:p="http://schemas.openxmlformats.org/presentationml/2006/main">
  <p:sldMasterIdLst>
    <p:sldMasterId xmlns:r="http://schemas.openxmlformats.org/officeDocument/2006/relationships" id="2147483648" r:id="Ra9b73d6b354a460a"/>
  </p:sldMasterIdLst>
  <p:notesMasterIdLst>
    <p:notesMasterId xmlns:r="http://schemas.openxmlformats.org/officeDocument/2006/relationships" r:id="R35bf45c1ebd9486e"/>
  </p:notesMasterIdLst>
  <p:sldIdLst>
    <p:sldId xmlns:r="http://schemas.openxmlformats.org/officeDocument/2006/relationships" id="256" r:id="Rf43c8802dfc64852"/>
    <p:sldId xmlns:r="http://schemas.openxmlformats.org/officeDocument/2006/relationships" id="257" r:id="R0835e25db400411c"/>
    <p:sldId xmlns:r="http://schemas.openxmlformats.org/officeDocument/2006/relationships" id="258" r:id="Ref3247ef725c4357"/>
    <p:sldId xmlns:r="http://schemas.openxmlformats.org/officeDocument/2006/relationships" id="259" r:id="R19eb7023870e4035"/>
    <p:sldId xmlns:r="http://schemas.openxmlformats.org/officeDocument/2006/relationships" id="260" r:id="R01dfbc53f9f045c2"/>
    <p:sldId xmlns:r="http://schemas.openxmlformats.org/officeDocument/2006/relationships" id="261" r:id="R2191346c559d49de"/>
    <p:sldId xmlns:r="http://schemas.openxmlformats.org/officeDocument/2006/relationships" id="262" r:id="R52072ccbd8704c7b"/>
    <p:sldId xmlns:r="http://schemas.openxmlformats.org/officeDocument/2006/relationships" id="263" r:id="Raa327aac845c45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307f625e264f4b" /><Relationship Type="http://schemas.openxmlformats.org/officeDocument/2006/relationships/slideMaster" Target="/ppt/slideMasters/slideMaster1.xml" Id="Ra9b73d6b354a460a" /><Relationship Type="http://schemas.openxmlformats.org/officeDocument/2006/relationships/notesMaster" Target="/ppt/notesMasters/notesMaster1.xml" Id="R35bf45c1ebd9486e" /><Relationship Type="http://schemas.openxmlformats.org/officeDocument/2006/relationships/presProps" Target="/ppt/presProps.xml" Id="R87408a06fe674cd2" /><Relationship Type="http://schemas.openxmlformats.org/officeDocument/2006/relationships/tableStyles" Target="/ppt/tableStyles.xml" Id="R34ab67ee56e54d02" /><Relationship Type="http://schemas.openxmlformats.org/officeDocument/2006/relationships/slide" Target="/ppt/slides/slide1.xml" Id="Rf43c8802dfc64852" /><Relationship Type="http://schemas.openxmlformats.org/officeDocument/2006/relationships/slide" Target="/ppt/slides/slide2.xml" Id="R0835e25db400411c" /><Relationship Type="http://schemas.openxmlformats.org/officeDocument/2006/relationships/slide" Target="/ppt/slides/slide3.xml" Id="Ref3247ef725c4357" /><Relationship Type="http://schemas.openxmlformats.org/officeDocument/2006/relationships/slide" Target="/ppt/slides/slide4.xml" Id="R19eb7023870e4035" /><Relationship Type="http://schemas.openxmlformats.org/officeDocument/2006/relationships/slide" Target="/ppt/slides/slide5.xml" Id="R01dfbc53f9f045c2" /><Relationship Type="http://schemas.openxmlformats.org/officeDocument/2006/relationships/slide" Target="/ppt/slides/slide6.xml" Id="R2191346c559d49de" /><Relationship Type="http://schemas.openxmlformats.org/officeDocument/2006/relationships/slide" Target="/ppt/slides/slide7.xml" Id="R52072ccbd8704c7b" /><Relationship Type="http://schemas.openxmlformats.org/officeDocument/2006/relationships/slide" Target="/ppt/slides/slide8.xml" Id="Raa327aac845c45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ad9e2397c14d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a16cb06a9e4eac" /><Relationship Type="http://schemas.openxmlformats.org/officeDocument/2006/relationships/notesMaster" Target="/ppt/notesMasters/notesMaster1.xml" Id="R5ccf4ba6800148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4c002de3864b22" /><Relationship Type="http://schemas.openxmlformats.org/officeDocument/2006/relationships/notesMaster" Target="/ppt/notesMasters/notesMaster1.xml" Id="R06bdf93fcedc48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97f36b9d6049e1" /><Relationship Type="http://schemas.openxmlformats.org/officeDocument/2006/relationships/notesMaster" Target="/ppt/notesMasters/notesMaster1.xml" Id="Re31ce27a4a2d4e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b89b2b7ebf427f" /><Relationship Type="http://schemas.openxmlformats.org/officeDocument/2006/relationships/notesMaster" Target="/ppt/notesMasters/notesMaster1.xml" Id="R7155ca594e9a46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fd8cf5ea504f0b" /><Relationship Type="http://schemas.openxmlformats.org/officeDocument/2006/relationships/notesMaster" Target="/ppt/notesMasters/notesMaster1.xml" Id="Ra0a654a6ea724e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5236eea1ee4d8a" /><Relationship Type="http://schemas.openxmlformats.org/officeDocument/2006/relationships/notesMaster" Target="/ppt/notesMasters/notesMaster1.xml" Id="R0a98f27348504c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5187dbfead4d63" /><Relationship Type="http://schemas.openxmlformats.org/officeDocument/2006/relationships/notesMaster" Target="/ppt/notesMasters/notesMaster1.xml" Id="Rc7927e23e21740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2f86f00fff4cca" /><Relationship Type="http://schemas.openxmlformats.org/officeDocument/2006/relationships/notesMaster" Target="/ppt/notesMasters/notesMaster1.xml" Id="Rb579443233cb4d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working local prototype with real Exasol Personal analytics, synthetic business data and approval-required simulated actions. Garv Gupta. October 31, 2026 IST.</a:t>
            </a:r>
          </a:p>
          <a:p xmlns:a="http://schemas.openxmlformats.org/drawingml/2006/main">
            <a:r>
              <a:t/>
            </a:r>
          </a:p>
          <a:p xmlns:a="http://schemas.openxmlformats.org/drawingml/2006/main">
            <a:r>
              <a:t>Sources: https://github.com/garv2412/AdVergent/blob/main/docs/product-specification.md</a:t>
            </a:r>
          </a:p>
          <a:p xmlns:a="http://schemas.openxmlformats.org/drawingml/2006/main">
            <a:r>
              <a:t>Track name supplied by the submitter.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scenario is a single Indian apparel merchant, one warehouse and domestic INR sales. These are the project problem assumptions, not findings from a merchant study.</a:t>
            </a:r>
          </a:p>
          <a:p xmlns:a="http://schemas.openxmlformats.org/drawingml/2006/main">
            <a:r>
              <a:t/>
            </a:r>
          </a:p>
          <a:p xmlns:a="http://schemas.openxmlformats.org/drawingml/2006/main">
            <a:r>
              <a:t>Sources: https://github.com/garv2412/AdVergent/blob/main/docs/phase-0/README.md</a:t>
            </a:r>
          </a:p>
          <a:p xmlns:a="http://schemas.openxmlformats.org/drawingml/2006/main">
            <a:r>
              <a:t>https://github.com/garv2412/AdVergent/blob/main/docs/product-specification.md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 maturity, missing costs and incomplete history remain separate. Breakout ranking abstains when evidence is sparse or stale. Response assumptions are uncalibrated and do not establish causal benefit.</a:t>
            </a:r>
          </a:p>
          <a:p xmlns:a="http://schemas.openxmlformats.org/drawingml/2006/main">
            <a:r>
              <a:t/>
            </a:r>
          </a:p>
          <a:p xmlns:a="http://schemas.openxmlformats.org/drawingml/2006/main">
            <a:r>
              <a:t>Sources: https://github.com/garv2412/AdVergent/blob/main/docs/phase-4-mapping-attribution.md</a:t>
            </a:r>
          </a:p>
          <a:p xmlns:a="http://schemas.openxmlformats.org/drawingml/2006/main">
            <a:r>
              <a:t>https://github.com/garv2412/AdVergent/blob/main/docs/phase-10-breakout.md</a:t>
            </a:r>
          </a:p>
          <a:p xmlns:a="http://schemas.openxmlformats.org/drawingml/2006/main">
            <a:r>
              <a:t>https://github.com/garv2412/AdVergent/blob/main/docs/phase-11-cohorts.md</a:t>
            </a:r>
          </a:p>
          <a:p xmlns:a="http://schemas.openxmlformats.org/drawingml/2006/main">
            <a:r>
              <a:t>https://github.com/garv2412/AdVergent/blob/main/docs/phase-12-budget.md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Encrypted certificate-verified Exasol connections. Workers publish only verified datasets. PostgreSQL supplies operational state, not a fallback analytical answer. The reference environment is a local Windows/Podman deployment.</a:t>
            </a:r>
          </a:p>
          <a:p xmlns:a="http://schemas.openxmlformats.org/drawingml/2006/main">
            <a:r>
              <a:t/>
            </a:r>
          </a:p>
          <a:p xmlns:a="http://schemas.openxmlformats.org/drawingml/2006/main">
            <a:r>
              <a:t>Sources: https://github.com/garv2412/AdVergent/blob/main/docs/architecture.md</a:t>
            </a:r>
          </a:p>
          <a:p xmlns:a="http://schemas.openxmlformats.org/drawingml/2006/main">
            <a:r>
              <a:t>https://github.com/garv2412/AdVergent/blob/main/backend/advergent/exasol.py</a:t>
            </a:r>
          </a:p>
          <a:p xmlns:a="http://schemas.openxmlformats.org/drawingml/2006/main">
            <a:r>
              <a:t>https://github.com/garv2412/AdVergent/blob/main/docs/phase-1-setup.md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unified decisions abstain on historical evidence. Inventory protection overrides growth, recovery and creative advice. No live Shopify, Meta or Google integration is implemented. The recording should not create or execute advertising actions.</a:t>
            </a:r>
          </a:p>
          <a:p xmlns:a="http://schemas.openxmlformats.org/drawingml/2006/main">
            <a:r>
              <a:t/>
            </a:r>
          </a:p>
          <a:p xmlns:a="http://schemas.openxmlformats.org/drawingml/2006/main">
            <a:r>
              <a:t>Sources: https://github.com/garv2412/AdVergent/blob/main/docs/phase-6-inventory.md</a:t>
            </a:r>
          </a:p>
          <a:p xmlns:a="http://schemas.openxmlformats.org/drawingml/2006/main">
            <a:r>
              <a:t>https://github.com/garv2412/AdVergent/blob/main/docs/phase-8-approved-execution.md</a:t>
            </a:r>
          </a:p>
          <a:p xmlns:a="http://schemas.openxmlformats.org/drawingml/2006/main">
            <a:r>
              <a:t>https://github.com/garv2412/AdVergent/blob/main/docs/phase-13-decisions.md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two-line foundation arithmetic is separate from the full-commerce dataset. These values demonstrate implemented arithmetic and constraints. They are not measured merchant uplift. Default observations are historical/stale.</a:t>
            </a:r>
          </a:p>
          <a:p xmlns:a="http://schemas.openxmlformats.org/drawingml/2006/main">
            <a:r>
              <a:t/>
            </a:r>
          </a:p>
          <a:p xmlns:a="http://schemas.openxmlformats.org/drawingml/2006/main">
            <a:r>
              <a:t>Sources: https://github.com/garv2412/AdVergent/blob/main/docs/product-specification.md</a:t>
            </a:r>
          </a:p>
          <a:p xmlns:a="http://schemas.openxmlformats.org/drawingml/2006/main">
            <a:r>
              <a:t>https://github.com/garv2412/AdVergent/blob/main/docs/phase-1-setup.md</a:t>
            </a:r>
          </a:p>
          <a:p xmlns:a="http://schemas.openxmlformats.org/drawingml/2006/main">
            <a:r>
              <a:t>https://github.com/garv2412/AdVergent/blob/main/docs/handoffs/phase-13.md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historical executed commands, not a new combined test run. Across browser modes there were 27 distinct cases, including two inherited rendering substitutes. Financial benefit, calibrated predictive accuracy, full history, production scale and hard-kill/new-host recovery remain unverified.</a:t>
            </a:r>
          </a:p>
          <a:p xmlns:a="http://schemas.openxmlformats.org/drawingml/2006/main">
            <a:r>
              <a:t/>
            </a:r>
          </a:p>
          <a:p xmlns:a="http://schemas.openxmlformats.org/drawingml/2006/main">
            <a:r>
              <a:t>Sources: https://github.com/garv2412/AdVergent/blob/main/docs/handoffs/phase-13.md</a:t>
            </a:r>
          </a:p>
          <a:p xmlns:a="http://schemas.openxmlformats.org/drawingml/2006/main">
            <a:r>
              <a:t>https://github.com/garv2412/AdVergent/blob/main/docs/handoffs/phase-14.md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Python/FastAPI, React/TypeScript, PostgreSQL, Exasol Personal/PyExasol and Podman. Upstream products retain their own terms. Fresh-machine reproduction remains unverified. The project requires no paid API or live merchant credentials. The demonstration video and transcript are linked in README.md.</a:t>
            </a:r>
          </a:p>
          <a:p xmlns:a="http://schemas.openxmlformats.org/drawingml/2006/main">
            <a:r>
              <a:t/>
            </a:r>
          </a:p>
          <a:p xmlns:a="http://schemas.openxmlformats.org/drawingml/2006/main">
            <a:r>
              <a:t>Sources: https://github.com/garv2412/AdVergent/blob/main/README.md</a:t>
            </a:r>
          </a:p>
          <a:p xmlns:a="http://schemas.openxmlformats.org/drawingml/2006/main">
            <a:r>
              <a:t>https://github.com/garv2412/AdVergent/blob/main/LICENSE</a:t>
            </a:r>
          </a:p>
          <a:p xmlns:a="http://schemas.openxmlformats.org/drawingml/2006/main">
            <a:r>
              <a:t>https://github.com/garv2412/AdVergent/blob/main/docs/phase-1-setup.md</a:t>
            </a:r>
          </a:p>
          <a:p xmlns:a="http://schemas.openxmlformats.org/drawingml/2006/main">
            <a:r>
              <a:t>https://github.com/garv2412/AdVergent/blob/main/docs/hackathon-submission.md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f1b764e2af42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018503fcaf42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0084ef295046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ba5f1af5834a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7b5cebfdb742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f948a20dc946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9F3F2-B9DE-4592-BCAD-860432F6D0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CD84E3-E98B-4FA2-8225-D58AA192E14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625E86-7514-4711-8614-4CD2D503A04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7C324B-325A-493A-B113-4153919AA6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EE6AE0-F4A9-4F33-AE50-8EB62A0A87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82342B-ECEC-4742-B6A0-12B73241A2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33F6BF-4DFE-48B2-9764-C4B52CFA55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0E9E1C-A800-48FC-B7E6-B97EED8E5E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D6159B-E88E-40CA-9E49-7036870F92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1AF251-12FA-4CC3-8963-6832BFA3EF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dfa46b40054688" /><Relationship Type="http://schemas.openxmlformats.org/officeDocument/2006/relationships/slideLayout" Target="/ppt/slideLayouts/slideLayout1.xml" Id="R1b9057bc168043e9" /><Relationship Type="http://schemas.openxmlformats.org/officeDocument/2006/relationships/slideLayout" Target="/ppt/slideLayouts/slideLayout2.xml" Id="R3c14b3db507c44ae" /><Relationship Type="http://schemas.openxmlformats.org/officeDocument/2006/relationships/slideLayout" Target="/ppt/slideLayouts/slideLayout3.xml" Id="Ree7a42cab1374d4c" /><Relationship Type="http://schemas.openxmlformats.org/officeDocument/2006/relationships/slideLayout" Target="/ppt/slideLayouts/slideLayout4.xml" Id="R33f2745ace5040ac" /><Relationship Type="http://schemas.openxmlformats.org/officeDocument/2006/relationships/slideLayout" Target="/ppt/slideLayouts/slideLayout5.xml" Id="R21d3e5c4ec5f4ecc" /><Relationship Type="http://schemas.openxmlformats.org/officeDocument/2006/relationships/slideLayout" Target="/ppt/slideLayouts/slideLayout6.xml" Id="R7fe38adb3f1e43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9057bc168043e9"/>
    <p:sldLayoutId xmlns:r="http://schemas.openxmlformats.org/officeDocument/2006/relationships" id="2147483650" r:id="R3c14b3db507c44ae"/>
    <p:sldLayoutId xmlns:r="http://schemas.openxmlformats.org/officeDocument/2006/relationships" id="2147483651" r:id="Ree7a42cab1374d4c"/>
    <p:sldLayoutId xmlns:r="http://schemas.openxmlformats.org/officeDocument/2006/relationships" id="2147483652" r:id="R33f2745ace5040ac"/>
    <p:sldLayoutId xmlns:r="http://schemas.openxmlformats.org/officeDocument/2006/relationships" id="2147483653" r:id="R21d3e5c4ec5f4ecc"/>
    <p:sldLayoutId xmlns:r="http://schemas.openxmlformats.org/officeDocument/2006/relationships" id="2147483654" r:id="R7fe38adb3f1e43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ba30a83090442c" /><Relationship Type="http://schemas.openxmlformats.org/officeDocument/2006/relationships/notesSlide" Target="/ppt/notesSlides/notesSlide1.xml" Id="R73d8e9dba0e246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cecd1019a14858" /><Relationship Type="http://schemas.openxmlformats.org/officeDocument/2006/relationships/notesSlide" Target="/ppt/notesSlides/notesSlide2.xml" Id="Rbafd02790b2645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889b52e37e4b19" /><Relationship Type="http://schemas.openxmlformats.org/officeDocument/2006/relationships/notesSlide" Target="/ppt/notesSlides/notesSlide3.xml" Id="R5be7fbf977634c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7874df79104b22" /><Relationship Type="http://schemas.openxmlformats.org/officeDocument/2006/relationships/notesSlide" Target="/ppt/notesSlides/notesSlide4.xml" Id="Rd021fc32e0f041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84f253c7e14b3f" /><Relationship Type="http://schemas.openxmlformats.org/officeDocument/2006/relationships/notesSlide" Target="/ppt/notesSlides/notesSlide5.xml" Id="Re206c19428814c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6c18d329074af4" /><Relationship Type="http://schemas.openxmlformats.org/officeDocument/2006/relationships/notesSlide" Target="/ppt/notesSlides/notesSlide6.xml" Id="R0b79a40711ba48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b0420590964a3c" /><Relationship Type="http://schemas.openxmlformats.org/officeDocument/2006/relationships/notesSlide" Target="/ppt/notesSlides/notesSlide7.xml" Id="R415fcd507bb9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7a3d77bc594fd0" /><Relationship Type="http://schemas.openxmlformats.org/officeDocument/2006/relationships/notesSlide" Target="/ppt/notesSlides/notesSlide8.xml" Id="Ra75a49dc123241a9" /></Relationships>
</file>

<file path=ppt/slides/slide1.xml><?xml version="1.0" encoding="utf-8"?>
<p:sld xmlns:p="http://schemas.openxmlformats.org/presentationml/2006/main">
  <p:cSld>
    <p:bg>
      <p:bgPr>
        <a:solidFill xmlns:a="http://schemas.openxmlformats.org/drawingml/2006/main">
          <a:srgbClr val="1025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429F7D2-8504-42A8-A56C-9C60F383AE11}"/>
              </a:ext>
            </a:extLst>
          </p:cNvPr>
          <p:cNvSpPr>
            <a:spLocks xmlns:a="http://schemas.openxmlformats.org/drawingml/2006/main" noGrp="1"/>
          </p:cNvSpPr>
          <p:nvPr/>
        </p:nvSpPr>
        <p:spPr>
          <a:xfrm xmlns:a="http://schemas.openxmlformats.org/drawingml/2006/main">
            <a:off x="762000" y="12858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450" b="1">
                <a:solidFill>
                  <a:srgbClr val="FFFFFF"/>
                </a:solidFill>
                <a:latin typeface="Segoe UI"/>
                <a:ea typeface="Segoe UI"/>
                <a:cs typeface="Segoe UI"/>
              </a:defRPr>
            </a:defPPr>
            <a:lvl1pPr>
              <a:defRPr sz="6450" b="1">
                <a:solidFill>
                  <a:srgbClr val="FFFFFF"/>
                </a:solidFill>
                <a:latin typeface="Segoe UI"/>
                <a:ea typeface="Segoe UI"/>
                <a:cs typeface="Segoe UI"/>
              </a:defRPr>
            </a:lvl1pPr>
            <a:lvl2pPr>
              <a:defRPr sz="6450" b="1">
                <a:solidFill>
                  <a:srgbClr val="FFFFFF"/>
                </a:solidFill>
                <a:latin typeface="Segoe UI"/>
                <a:ea typeface="Segoe UI"/>
                <a:cs typeface="Segoe UI"/>
              </a:defRPr>
            </a:lvl2pPr>
            <a:lvl3pPr>
              <a:defRPr sz="6450" b="1">
                <a:solidFill>
                  <a:srgbClr val="FFFFFF"/>
                </a:solidFill>
                <a:latin typeface="Segoe UI"/>
                <a:ea typeface="Segoe UI"/>
                <a:cs typeface="Segoe UI"/>
              </a:defRPr>
            </a:lvl3pPr>
            <a:lvl4pPr>
              <a:defRPr sz="6450" b="1">
                <a:solidFill>
                  <a:srgbClr val="FFFFFF"/>
                </a:solidFill>
                <a:latin typeface="Segoe UI"/>
                <a:ea typeface="Segoe UI"/>
                <a:cs typeface="Segoe UI"/>
              </a:defRPr>
            </a:lvl4pPr>
            <a:lvl5pPr>
              <a:defRPr sz="6450" b="1">
                <a:solidFill>
                  <a:srgbClr val="FFFFFF"/>
                </a:solidFill>
                <a:latin typeface="Segoe UI"/>
                <a:ea typeface="Segoe UI"/>
                <a:cs typeface="Segoe UI"/>
              </a:defRPr>
            </a:lvl5pPr>
            <a:lvl6pPr>
              <a:defRPr sz="6450" b="1">
                <a:solidFill>
                  <a:srgbClr val="FFFFFF"/>
                </a:solidFill>
                <a:latin typeface="Segoe UI"/>
                <a:ea typeface="Segoe UI"/>
                <a:cs typeface="Segoe UI"/>
              </a:defRPr>
            </a:lvl6pPr>
            <a:lvl7pPr>
              <a:defRPr sz="6450" b="1">
                <a:solidFill>
                  <a:srgbClr val="FFFFFF"/>
                </a:solidFill>
                <a:latin typeface="Segoe UI"/>
                <a:ea typeface="Segoe UI"/>
                <a:cs typeface="Segoe UI"/>
              </a:defRPr>
            </a:lvl7pPr>
            <a:lvl8pPr>
              <a:defRPr sz="6450" b="1">
                <a:solidFill>
                  <a:srgbClr val="FFFFFF"/>
                </a:solidFill>
                <a:latin typeface="Segoe UI"/>
                <a:ea typeface="Segoe UI"/>
                <a:cs typeface="Segoe UI"/>
              </a:defRPr>
            </a:lvl8pPr>
            <a:lvl9pPr>
              <a:defRPr sz="6450" b="1">
                <a:solidFill>
                  <a:srgbClr val="FFFFFF"/>
                </a:solidFill>
                <a:latin typeface="Segoe UI"/>
                <a:ea typeface="Segoe UI"/>
                <a:cs typeface="Segoe UI"/>
              </a:defRPr>
            </a:lvl9pPr>
          </a:lstStyle>
          <a:p xmlns:a="http://schemas.openxmlformats.org/drawingml/2006/main">
            <a:pPr>
              <a:defRPr sz="6450" b="1">
                <a:solidFill>
                  <a:srgbClr val="FFFFFF"/>
                </a:solidFill>
                <a:latin typeface="Segoe UI"/>
                <a:ea typeface="Segoe UI"/>
                <a:cs typeface="Segoe UI"/>
              </a:defRPr>
            </a:pPr>
            <a:r>
              <a:rPr sz="6450" b="1">
                <a:solidFill>
                  <a:srgbClr val="FFFFFF"/>
                </a:solidFill>
                <a:latin typeface="Segoe UI"/>
                <a:ea typeface="Segoe UI"/>
                <a:cs typeface="Segoe UI"/>
              </a:rPr>
              <a:t>AdVergent</a:t>
            </a:r>
          </a:p>
        </p:txBody>
      </p:sp>
      <p:sp>
        <p:nvSpPr>
          <p:cNvPr id="2" name="">
            <a:extLst xmlns:a="http://schemas.openxmlformats.org/drawingml/2006/main">
              <a:ext uri="{FF2B5EF4-FFF2-40B4-BE49-F238E27FC236}">
                <a16:creationId xmlns:a16="http://schemas.microsoft.com/office/drawing/2014/main" id="{E970AA43-E156-44A0-BA19-B2519A22CBA9}"/>
              </a:ext>
            </a:extLst>
          </p:cNvPr>
          <p:cNvSpPr>
            <a:spLocks xmlns:a="http://schemas.openxmlformats.org/drawingml/2006/main" noGrp="1"/>
          </p:cNvSpPr>
          <p:nvPr/>
        </p:nvSpPr>
        <p:spPr>
          <a:xfrm xmlns:a="http://schemas.openxmlformats.org/drawingml/2006/main">
            <a:off x="800100" y="2714625"/>
            <a:ext cx="9715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DAE9EA"/>
                </a:solidFill>
                <a:latin typeface="Segoe UI"/>
                <a:ea typeface="Segoe UI"/>
                <a:cs typeface="Segoe UI"/>
              </a:defRPr>
            </a:defPPr>
            <a:lvl1pPr>
              <a:defRPr sz="2925" b="0">
                <a:solidFill>
                  <a:srgbClr val="DAE9EA"/>
                </a:solidFill>
                <a:latin typeface="Segoe UI"/>
                <a:ea typeface="Segoe UI"/>
                <a:cs typeface="Segoe UI"/>
              </a:defRPr>
            </a:lvl1pPr>
            <a:lvl2pPr>
              <a:defRPr sz="2925" b="0">
                <a:solidFill>
                  <a:srgbClr val="DAE9EA"/>
                </a:solidFill>
                <a:latin typeface="Segoe UI"/>
                <a:ea typeface="Segoe UI"/>
                <a:cs typeface="Segoe UI"/>
              </a:defRPr>
            </a:lvl2pPr>
            <a:lvl3pPr>
              <a:defRPr sz="2925" b="0">
                <a:solidFill>
                  <a:srgbClr val="DAE9EA"/>
                </a:solidFill>
                <a:latin typeface="Segoe UI"/>
                <a:ea typeface="Segoe UI"/>
                <a:cs typeface="Segoe UI"/>
              </a:defRPr>
            </a:lvl3pPr>
            <a:lvl4pPr>
              <a:defRPr sz="2925" b="0">
                <a:solidFill>
                  <a:srgbClr val="DAE9EA"/>
                </a:solidFill>
                <a:latin typeface="Segoe UI"/>
                <a:ea typeface="Segoe UI"/>
                <a:cs typeface="Segoe UI"/>
              </a:defRPr>
            </a:lvl4pPr>
            <a:lvl5pPr>
              <a:defRPr sz="2925" b="0">
                <a:solidFill>
                  <a:srgbClr val="DAE9EA"/>
                </a:solidFill>
                <a:latin typeface="Segoe UI"/>
                <a:ea typeface="Segoe UI"/>
                <a:cs typeface="Segoe UI"/>
              </a:defRPr>
            </a:lvl5pPr>
            <a:lvl6pPr>
              <a:defRPr sz="2925" b="0">
                <a:solidFill>
                  <a:srgbClr val="DAE9EA"/>
                </a:solidFill>
                <a:latin typeface="Segoe UI"/>
                <a:ea typeface="Segoe UI"/>
                <a:cs typeface="Segoe UI"/>
              </a:defRPr>
            </a:lvl6pPr>
            <a:lvl7pPr>
              <a:defRPr sz="2925" b="0">
                <a:solidFill>
                  <a:srgbClr val="DAE9EA"/>
                </a:solidFill>
                <a:latin typeface="Segoe UI"/>
                <a:ea typeface="Segoe UI"/>
                <a:cs typeface="Segoe UI"/>
              </a:defRPr>
            </a:lvl7pPr>
            <a:lvl8pPr>
              <a:defRPr sz="2925" b="0">
                <a:solidFill>
                  <a:srgbClr val="DAE9EA"/>
                </a:solidFill>
                <a:latin typeface="Segoe UI"/>
                <a:ea typeface="Segoe UI"/>
                <a:cs typeface="Segoe UI"/>
              </a:defRPr>
            </a:lvl8pPr>
            <a:lvl9pPr>
              <a:defRPr sz="2925" b="0">
                <a:solidFill>
                  <a:srgbClr val="DAE9EA"/>
                </a:solidFill>
                <a:latin typeface="Segoe UI"/>
                <a:ea typeface="Segoe UI"/>
                <a:cs typeface="Segoe UI"/>
              </a:defRPr>
            </a:lvl9pPr>
          </a:lstStyle>
          <a:p xmlns:a="http://schemas.openxmlformats.org/drawingml/2006/main">
            <a:pPr>
              <a:defRPr sz="2925" b="0">
                <a:solidFill>
                  <a:srgbClr val="DAE9EA"/>
                </a:solidFill>
                <a:latin typeface="Segoe UI"/>
                <a:ea typeface="Segoe UI"/>
                <a:cs typeface="Segoe UI"/>
              </a:defRPr>
            </a:pPr>
            <a:r>
              <a:rPr sz="2925" b="0">
                <a:solidFill>
                  <a:srgbClr val="DAE9EA"/>
                </a:solidFill>
                <a:latin typeface="Segoe UI"/>
                <a:ea typeface="Segoe UI"/>
                <a:cs typeface="Segoe UI"/>
              </a:rPr>
              <a:t>Customer, channel and demand intelligence</a:t>
            </a:r>
          </a:p>
          <a:p xmlns:a="http://schemas.openxmlformats.org/drawingml/2006/main">
            <a:pPr>
              <a:defRPr sz="2925" b="0">
                <a:solidFill>
                  <a:srgbClr val="DAE9EA"/>
                </a:solidFill>
                <a:latin typeface="Segoe UI"/>
                <a:ea typeface="Segoe UI"/>
                <a:cs typeface="Segoe UI"/>
              </a:defRPr>
            </a:pPr>
            <a:r>
              <a:rPr sz="2925" b="0">
                <a:solidFill>
                  <a:srgbClr val="DAE9EA"/>
                </a:solidFill>
                <a:latin typeface="Segoe UI"/>
                <a:ea typeface="Segoe UI"/>
                <a:cs typeface="Segoe UI"/>
              </a:rPr>
              <a:t>for apparel merchants</a:t>
            </a:r>
          </a:p>
        </p:txBody>
      </p:sp>
      <p:sp>
        <p:nvSpPr>
          <p:cNvPr id="3" name="">
            <a:extLst xmlns:a="http://schemas.openxmlformats.org/drawingml/2006/main">
              <a:ext uri="{FF2B5EF4-FFF2-40B4-BE49-F238E27FC236}">
                <a16:creationId xmlns:a16="http://schemas.microsoft.com/office/drawing/2014/main" id="{F4F33253-5864-430C-BC1C-8F10957C735F}"/>
              </a:ext>
            </a:extLst>
          </p:cNvPr>
          <p:cNvSpPr>
            <a:spLocks xmlns:a="http://schemas.openxmlformats.org/drawingml/2006/main" noGrp="1"/>
          </p:cNvSpPr>
          <p:nvPr/>
        </p:nvSpPr>
        <p:spPr>
          <a:xfrm xmlns:a="http://schemas.openxmlformats.org/drawingml/2006/main">
            <a:off x="800100" y="538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3D8C6"/>
                </a:solidFill>
                <a:latin typeface="Segoe UI"/>
                <a:ea typeface="Segoe UI"/>
                <a:cs typeface="Segoe UI"/>
              </a:defRPr>
            </a:defPPr>
            <a:lvl1pPr>
              <a:defRPr sz="1875" b="0">
                <a:solidFill>
                  <a:srgbClr val="73D8C6"/>
                </a:solidFill>
                <a:latin typeface="Segoe UI"/>
                <a:ea typeface="Segoe UI"/>
                <a:cs typeface="Segoe UI"/>
              </a:defRPr>
            </a:lvl1pPr>
            <a:lvl2pPr>
              <a:defRPr sz="1875" b="0">
                <a:solidFill>
                  <a:srgbClr val="73D8C6"/>
                </a:solidFill>
                <a:latin typeface="Segoe UI"/>
                <a:ea typeface="Segoe UI"/>
                <a:cs typeface="Segoe UI"/>
              </a:defRPr>
            </a:lvl2pPr>
            <a:lvl3pPr>
              <a:defRPr sz="1875" b="0">
                <a:solidFill>
                  <a:srgbClr val="73D8C6"/>
                </a:solidFill>
                <a:latin typeface="Segoe UI"/>
                <a:ea typeface="Segoe UI"/>
                <a:cs typeface="Segoe UI"/>
              </a:defRPr>
            </a:lvl3pPr>
            <a:lvl4pPr>
              <a:defRPr sz="1875" b="0">
                <a:solidFill>
                  <a:srgbClr val="73D8C6"/>
                </a:solidFill>
                <a:latin typeface="Segoe UI"/>
                <a:ea typeface="Segoe UI"/>
                <a:cs typeface="Segoe UI"/>
              </a:defRPr>
            </a:lvl4pPr>
            <a:lvl5pPr>
              <a:defRPr sz="1875" b="0">
                <a:solidFill>
                  <a:srgbClr val="73D8C6"/>
                </a:solidFill>
                <a:latin typeface="Segoe UI"/>
                <a:ea typeface="Segoe UI"/>
                <a:cs typeface="Segoe UI"/>
              </a:defRPr>
            </a:lvl5pPr>
            <a:lvl6pPr>
              <a:defRPr sz="1875" b="0">
                <a:solidFill>
                  <a:srgbClr val="73D8C6"/>
                </a:solidFill>
                <a:latin typeface="Segoe UI"/>
                <a:ea typeface="Segoe UI"/>
                <a:cs typeface="Segoe UI"/>
              </a:defRPr>
            </a:lvl6pPr>
            <a:lvl7pPr>
              <a:defRPr sz="1875" b="0">
                <a:solidFill>
                  <a:srgbClr val="73D8C6"/>
                </a:solidFill>
                <a:latin typeface="Segoe UI"/>
                <a:ea typeface="Segoe UI"/>
                <a:cs typeface="Segoe UI"/>
              </a:defRPr>
            </a:lvl7pPr>
            <a:lvl8pPr>
              <a:defRPr sz="1875" b="0">
                <a:solidFill>
                  <a:srgbClr val="73D8C6"/>
                </a:solidFill>
                <a:latin typeface="Segoe UI"/>
                <a:ea typeface="Segoe UI"/>
                <a:cs typeface="Segoe UI"/>
              </a:defRPr>
            </a:lvl8pPr>
            <a:lvl9pPr>
              <a:defRPr sz="1875" b="0">
                <a:solidFill>
                  <a:srgbClr val="73D8C6"/>
                </a:solidFill>
                <a:latin typeface="Segoe UI"/>
                <a:ea typeface="Segoe UI"/>
                <a:cs typeface="Segoe UI"/>
              </a:defRPr>
            </a:lvl9pPr>
          </a:lstStyle>
          <a:p xmlns:a="http://schemas.openxmlformats.org/drawingml/2006/main">
            <a:pPr>
              <a:defRPr sz="1875" b="0">
                <a:solidFill>
                  <a:srgbClr val="73D8C6"/>
                </a:solidFill>
                <a:latin typeface="Segoe UI"/>
                <a:ea typeface="Segoe UI"/>
                <a:cs typeface="Segoe UI"/>
              </a:defRPr>
            </a:pPr>
            <a:r>
              <a:rPr sz="1875" b="0">
                <a:solidFill>
                  <a:srgbClr val="73D8C6"/>
                </a:solidFill>
                <a:latin typeface="Segoe UI"/>
                <a:ea typeface="Segoe UI"/>
                <a:cs typeface="Segoe UI"/>
              </a:rPr>
              <a:t>Track 02 — Customers, Channels &amp; Demand</a:t>
            </a:r>
          </a:p>
        </p:txBody>
      </p:sp>
    </p:spTree>
    <p:extLst>
      <p:ext uri="{BB962C8B-B14F-4D97-AF65-F5344CB8AC3E}">
        <p14:creationId xmlns:p14="http://schemas.microsoft.com/office/powerpoint/2010/main" val="428488073"/>
      </p:ext>
    </p:extLst>
  </p:cSld>
</p:sld>
</file>

<file path=ppt/slides/slide2.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7F079C-135F-4B16-A54A-DBAD15DD47F4}"/>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The merchant decision problem</a:t>
            </a:r>
          </a:p>
        </p:txBody>
      </p:sp>
      <p:sp>
        <p:nvSpPr>
          <p:cNvPr id="2" name="">
            <a:extLst xmlns:a="http://schemas.openxmlformats.org/drawingml/2006/main">
              <a:ext uri="{FF2B5EF4-FFF2-40B4-BE49-F238E27FC236}">
                <a16:creationId xmlns:a16="http://schemas.microsoft.com/office/drawing/2014/main" id="{DF1C0607-8914-41EB-AAE8-3FF4087DD65B}"/>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Fragmented evidence can hide commercial risk</a:t>
            </a:r>
          </a:p>
        </p:txBody>
      </p:sp>
      <p:sp>
        <p:nvSpPr>
          <p:cNvPr id="3" name="">
            <a:extLst xmlns:a="http://schemas.openxmlformats.org/drawingml/2006/main">
              <a:ext uri="{FF2B5EF4-FFF2-40B4-BE49-F238E27FC236}">
                <a16:creationId xmlns:a16="http://schemas.microsoft.com/office/drawing/2014/main" id="{B9C9FB30-949B-4740-9C77-4E7E6EF73435}"/>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Reported revenue</a:t>
            </a:r>
          </a:p>
        </p:txBody>
      </p:sp>
      <p:sp>
        <p:nvSpPr>
          <p:cNvPr id="4" name="">
            <a:extLst xmlns:a="http://schemas.openxmlformats.org/drawingml/2006/main">
              <a:ext uri="{FF2B5EF4-FFF2-40B4-BE49-F238E27FC236}">
                <a16:creationId xmlns:a16="http://schemas.microsoft.com/office/drawing/2014/main" id="{1C4074AA-760D-4494-8E78-E8D739229186}"/>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Returns, COD failures and missing costs change contribution.</a:t>
            </a:r>
          </a:p>
        </p:txBody>
      </p:sp>
      <p:sp>
        <p:nvSpPr>
          <p:cNvPr id="5" name="">
            <a:extLst xmlns:a="http://schemas.openxmlformats.org/drawingml/2006/main">
              <a:ext uri="{FF2B5EF4-FFF2-40B4-BE49-F238E27FC236}">
                <a16:creationId xmlns:a16="http://schemas.microsoft.com/office/drawing/2014/main" id="{6288C312-3498-445B-81D6-EEA43819E653}"/>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Channel performance</a:t>
            </a:r>
          </a:p>
        </p:txBody>
      </p:sp>
      <p:sp>
        <p:nvSpPr>
          <p:cNvPr id="6" name="">
            <a:extLst xmlns:a="http://schemas.openxmlformats.org/drawingml/2006/main">
              <a:ext uri="{FF2B5EF4-FFF2-40B4-BE49-F238E27FC236}">
                <a16:creationId xmlns:a16="http://schemas.microsoft.com/office/drawing/2014/main" id="{14DAE5DF-F3F2-4207-8D2B-5DA3ABDB8BE0}"/>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Overlapping platform claims complicate attribution.</a:t>
            </a:r>
          </a:p>
        </p:txBody>
      </p:sp>
      <p:sp>
        <p:nvSpPr>
          <p:cNvPr id="7" name="">
            <a:extLst xmlns:a="http://schemas.openxmlformats.org/drawingml/2006/main">
              <a:ext uri="{FF2B5EF4-FFF2-40B4-BE49-F238E27FC236}">
                <a16:creationId xmlns:a16="http://schemas.microsoft.com/office/drawing/2014/main" id="{E0002BA4-4466-402D-98A1-36DF01207B87}"/>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Demand signals</a:t>
            </a:r>
          </a:p>
        </p:txBody>
      </p:sp>
      <p:sp>
        <p:nvSpPr>
          <p:cNvPr id="8" name="">
            <a:extLst xmlns:a="http://schemas.openxmlformats.org/drawingml/2006/main">
              <a:ext uri="{FF2B5EF4-FFF2-40B4-BE49-F238E27FC236}">
                <a16:creationId xmlns:a16="http://schemas.microsoft.com/office/drawing/2014/main" id="{821EB1E6-EB63-4652-96CC-D2129E47A280}"/>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Product interest can coincide with unavailable key sizes.</a:t>
            </a:r>
          </a:p>
        </p:txBody>
      </p:sp>
      <p:sp>
        <p:nvSpPr>
          <p:cNvPr id="9" name="">
            <a:extLst xmlns:a="http://schemas.openxmlformats.org/drawingml/2006/main">
              <a:ext uri="{FF2B5EF4-FFF2-40B4-BE49-F238E27FC236}">
                <a16:creationId xmlns:a16="http://schemas.microsoft.com/office/drawing/2014/main" id="{0305FFEE-0228-4958-B2C1-801F2D3D87DD}"/>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2 / 8</a:t>
            </a:r>
          </a:p>
        </p:txBody>
      </p:sp>
    </p:spTree>
    <p:extLst>
      <p:ext uri="{BB962C8B-B14F-4D97-AF65-F5344CB8AC3E}">
        <p14:creationId xmlns:p14="http://schemas.microsoft.com/office/powerpoint/2010/main" val="768677883"/>
      </p:ext>
    </p:extLst>
  </p:cSld>
</p:sld>
</file>

<file path=ppt/slides/slide3.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A5E5D4-C5DB-4917-AA8E-0BB1D9CBB0A2}"/>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One evidence-based decision view</a:t>
            </a:r>
          </a:p>
        </p:txBody>
      </p:sp>
      <p:sp>
        <p:nvSpPr>
          <p:cNvPr id="2" name="">
            <a:extLst xmlns:a="http://schemas.openxmlformats.org/drawingml/2006/main">
              <a:ext uri="{FF2B5EF4-FFF2-40B4-BE49-F238E27FC236}">
                <a16:creationId xmlns:a16="http://schemas.microsoft.com/office/drawing/2014/main" id="{4B6B134C-AA55-4103-9FE4-49C58BEEAF40}"/>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Track 02 fit</a:t>
            </a:r>
          </a:p>
        </p:txBody>
      </p:sp>
      <p:sp>
        <p:nvSpPr>
          <p:cNvPr id="3" name="">
            <a:extLst xmlns:a="http://schemas.openxmlformats.org/drawingml/2006/main">
              <a:ext uri="{FF2B5EF4-FFF2-40B4-BE49-F238E27FC236}">
                <a16:creationId xmlns:a16="http://schemas.microsoft.com/office/drawing/2014/main" id="{31DFC756-FB9B-442A-A68F-5F28803DFAD0}"/>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Customers</a:t>
            </a:r>
          </a:p>
        </p:txBody>
      </p:sp>
      <p:sp>
        <p:nvSpPr>
          <p:cNvPr id="4" name="">
            <a:extLst xmlns:a="http://schemas.openxmlformats.org/drawingml/2006/main">
              <a:ext uri="{FF2B5EF4-FFF2-40B4-BE49-F238E27FC236}">
                <a16:creationId xmlns:a16="http://schemas.microsoft.com/office/drawing/2014/main" id="{0CB235F7-B0AA-4383-B53E-360221C04DF6}"/>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First-party attribution and mature 60/90-day contribution cohorts.</a:t>
            </a:r>
          </a:p>
        </p:txBody>
      </p:sp>
      <p:sp>
        <p:nvSpPr>
          <p:cNvPr id="5" name="">
            <a:extLst xmlns:a="http://schemas.openxmlformats.org/drawingml/2006/main">
              <a:ext uri="{FF2B5EF4-FFF2-40B4-BE49-F238E27FC236}">
                <a16:creationId xmlns:a16="http://schemas.microsoft.com/office/drawing/2014/main" id="{1BF28823-5390-4EF5-A976-C97DFE75111F}"/>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Channels</a:t>
            </a:r>
          </a:p>
        </p:txBody>
      </p:sp>
      <p:sp>
        <p:nvSpPr>
          <p:cNvPr id="6" name="">
            <a:extLst xmlns:a="http://schemas.openxmlformats.org/drawingml/2006/main">
              <a:ext uri="{FF2B5EF4-FFF2-40B4-BE49-F238E27FC236}">
                <a16:creationId xmlns:a16="http://schemas.microsoft.com/office/drawing/2014/main" id="{EDE80EA1-6768-4E3D-BFCC-E364F912E873}"/>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Normalized spend, reviewed product mappings and contribution after ads.</a:t>
            </a:r>
          </a:p>
        </p:txBody>
      </p:sp>
      <p:sp>
        <p:nvSpPr>
          <p:cNvPr id="7" name="">
            <a:extLst xmlns:a="http://schemas.openxmlformats.org/drawingml/2006/main">
              <a:ext uri="{FF2B5EF4-FFF2-40B4-BE49-F238E27FC236}">
                <a16:creationId xmlns:a16="http://schemas.microsoft.com/office/drawing/2014/main" id="{B553277D-3477-43F3-9E3D-4F3269498746}"/>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Demand</a:t>
            </a:r>
          </a:p>
        </p:txBody>
      </p:sp>
      <p:sp>
        <p:nvSpPr>
          <p:cNvPr id="8" name="">
            <a:extLst xmlns:a="http://schemas.openxmlformats.org/drawingml/2006/main">
              <a:ext uri="{FF2B5EF4-FFF2-40B4-BE49-F238E27FC236}">
                <a16:creationId xmlns:a16="http://schemas.microsoft.com/office/drawing/2014/main" id="{876442A1-2575-421A-B05C-92F173A7E972}"/>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Deduplicated funnel signals, size availability and constrained budgets.</a:t>
            </a:r>
          </a:p>
        </p:txBody>
      </p:sp>
      <p:sp>
        <p:nvSpPr>
          <p:cNvPr id="9" name="">
            <a:extLst xmlns:a="http://schemas.openxmlformats.org/drawingml/2006/main">
              <a:ext uri="{FF2B5EF4-FFF2-40B4-BE49-F238E27FC236}">
                <a16:creationId xmlns:a16="http://schemas.microsoft.com/office/drawing/2014/main" id="{DFD0CD7F-F27B-4277-8021-A1725480F044}"/>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3 / 8</a:t>
            </a:r>
          </a:p>
        </p:txBody>
      </p:sp>
    </p:spTree>
    <p:extLst>
      <p:ext uri="{BB962C8B-B14F-4D97-AF65-F5344CB8AC3E}">
        <p14:creationId xmlns:p14="http://schemas.microsoft.com/office/powerpoint/2010/main" val="865218575"/>
      </p:ext>
    </p:extLst>
  </p:cSld>
</p:sld>
</file>

<file path=ppt/slides/slide4.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B7E760-8D4B-4E03-9B62-FB9B3FFF7AA7}"/>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Exasol Personal powers the analytics</a:t>
            </a:r>
          </a:p>
        </p:txBody>
      </p:sp>
      <p:sp>
        <p:nvSpPr>
          <p:cNvPr id="2" name="">
            <a:extLst xmlns:a="http://schemas.openxmlformats.org/drawingml/2006/main">
              <a:ext uri="{FF2B5EF4-FFF2-40B4-BE49-F238E27FC236}">
                <a16:creationId xmlns:a16="http://schemas.microsoft.com/office/drawing/2014/main" id="{7EFFABC1-7726-43F4-93BB-AD965439B827}"/>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Actual SQL queries over versioned synthetic sources</a:t>
            </a:r>
          </a:p>
        </p:txBody>
      </p:sp>
      <p:sp>
        <p:nvSpPr>
          <p:cNvPr id="3" name="">
            <a:extLst xmlns:a="http://schemas.openxmlformats.org/drawingml/2006/main">
              <a:ext uri="{FF2B5EF4-FFF2-40B4-BE49-F238E27FC236}">
                <a16:creationId xmlns:a16="http://schemas.microsoft.com/office/drawing/2014/main" id="{AD987D9C-F976-430F-91C0-8FFE36516A1E}"/>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Exasol Personal</a:t>
            </a:r>
          </a:p>
        </p:txBody>
      </p:sp>
      <p:sp>
        <p:nvSpPr>
          <p:cNvPr id="4" name="">
            <a:extLst xmlns:a="http://schemas.openxmlformats.org/drawingml/2006/main">
              <a:ext uri="{FF2B5EF4-FFF2-40B4-BE49-F238E27FC236}">
                <a16:creationId xmlns:a16="http://schemas.microsoft.com/office/drawing/2014/main" id="{2B27172D-F8E2-45EC-9AED-A3F7D1006A1E}"/>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Typed analytical tables, joins, aggregates and reconciliation through PyExasol.</a:t>
            </a:r>
          </a:p>
        </p:txBody>
      </p:sp>
      <p:sp>
        <p:nvSpPr>
          <p:cNvPr id="5" name="">
            <a:extLst xmlns:a="http://schemas.openxmlformats.org/drawingml/2006/main">
              <a:ext uri="{FF2B5EF4-FFF2-40B4-BE49-F238E27FC236}">
                <a16:creationId xmlns:a16="http://schemas.microsoft.com/office/drawing/2014/main" id="{7A19EFC3-08A8-4BEF-A248-F9CE033C69AB}"/>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PostgreSQL</a:t>
            </a:r>
          </a:p>
        </p:txBody>
      </p:sp>
      <p:sp>
        <p:nvSpPr>
          <p:cNvPr id="6" name="">
            <a:extLst xmlns:a="http://schemas.openxmlformats.org/drawingml/2006/main">
              <a:ext uri="{FF2B5EF4-FFF2-40B4-BE49-F238E27FC236}">
                <a16:creationId xmlns:a16="http://schemas.microsoft.com/office/drawing/2014/main" id="{B963B615-85BF-49D4-898A-E0A8AB91D9C0}"/>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Sessions, import jobs, publication pointers, approvals and retained audit history.</a:t>
            </a:r>
          </a:p>
        </p:txBody>
      </p:sp>
      <p:sp>
        <p:nvSpPr>
          <p:cNvPr id="7" name="">
            <a:extLst xmlns:a="http://schemas.openxmlformats.org/drawingml/2006/main">
              <a:ext uri="{FF2B5EF4-FFF2-40B4-BE49-F238E27FC236}">
                <a16:creationId xmlns:a16="http://schemas.microsoft.com/office/drawing/2014/main" id="{C024C64C-41A1-4D84-9A1E-B89D96E9888E}"/>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FastAPI + React</a:t>
            </a:r>
          </a:p>
        </p:txBody>
      </p:sp>
      <p:sp>
        <p:nvSpPr>
          <p:cNvPr id="8" name="">
            <a:extLst xmlns:a="http://schemas.openxmlformats.org/drawingml/2006/main">
              <a:ext uri="{FF2B5EF4-FFF2-40B4-BE49-F238E27FC236}">
                <a16:creationId xmlns:a16="http://schemas.microsoft.com/office/drawing/2014/main" id="{16E13ADE-7310-4249-9AE4-5AEF43063576}"/>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Authenticated analytical endpoints and an operator workspace.</a:t>
            </a:r>
          </a:p>
        </p:txBody>
      </p:sp>
      <p:sp>
        <p:nvSpPr>
          <p:cNvPr id="9" name="">
            <a:extLst xmlns:a="http://schemas.openxmlformats.org/drawingml/2006/main">
              <a:ext uri="{FF2B5EF4-FFF2-40B4-BE49-F238E27FC236}">
                <a16:creationId xmlns:a16="http://schemas.microsoft.com/office/drawing/2014/main" id="{48DC020F-7AB7-49FF-92A4-7959CA96F423}"/>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4 / 8</a:t>
            </a:r>
          </a:p>
        </p:txBody>
      </p:sp>
    </p:spTree>
    <p:extLst>
      <p:ext uri="{BB962C8B-B14F-4D97-AF65-F5344CB8AC3E}">
        <p14:creationId xmlns:p14="http://schemas.microsoft.com/office/powerpoint/2010/main" val="232884519"/>
      </p:ext>
    </p:extLst>
  </p:cSld>
</p:sld>
</file>

<file path=ppt/slides/slide5.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EB1A7E-8C90-4C99-A90E-797F8D224AA1}"/>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Inventory protection constrains advice</a:t>
            </a:r>
          </a:p>
        </p:txBody>
      </p:sp>
      <p:sp>
        <p:nvSpPr>
          <p:cNvPr id="2" name="">
            <a:extLst xmlns:a="http://schemas.openxmlformats.org/drawingml/2006/main">
              <a:ext uri="{FF2B5EF4-FFF2-40B4-BE49-F238E27FC236}">
                <a16:creationId xmlns:a16="http://schemas.microsoft.com/office/drawing/2014/main" id="{A66FC3C5-AC9D-43B7-A873-F23F19210CE5}"/>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Recommendations expose their evidence and limits</a:t>
            </a:r>
          </a:p>
        </p:txBody>
      </p:sp>
      <p:sp>
        <p:nvSpPr>
          <p:cNvPr id="3" name="">
            <a:extLst xmlns:a="http://schemas.openxmlformats.org/drawingml/2006/main">
              <a:ext uri="{FF2B5EF4-FFF2-40B4-BE49-F238E27FC236}">
                <a16:creationId xmlns:a16="http://schemas.microsoft.com/office/drawing/2014/main" id="{46916FB0-6EE1-4B4F-9B7D-9A27A893392D}"/>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Stockout or stale source</a:t>
            </a:r>
          </a:p>
        </p:txBody>
      </p:sp>
      <p:sp>
        <p:nvSpPr>
          <p:cNvPr id="4" name="">
            <a:extLst xmlns:a="http://schemas.openxmlformats.org/drawingml/2006/main">
              <a:ext uri="{FF2B5EF4-FFF2-40B4-BE49-F238E27FC236}">
                <a16:creationId xmlns:a16="http://schemas.microsoft.com/office/drawing/2014/main" id="{4B5A1A1E-F9FA-4AD3-841D-B1E6FC8C8DD3}"/>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Withhold unsupported growth and preserve resource scope.</a:t>
            </a:r>
          </a:p>
        </p:txBody>
      </p:sp>
      <p:sp>
        <p:nvSpPr>
          <p:cNvPr id="5" name="">
            <a:extLst xmlns:a="http://schemas.openxmlformats.org/drawingml/2006/main">
              <a:ext uri="{FF2B5EF4-FFF2-40B4-BE49-F238E27FC236}">
                <a16:creationId xmlns:a16="http://schemas.microsoft.com/office/drawing/2014/main" id="{0C5C4A40-274B-443A-8D96-D27E3EDC8F29}"/>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Unknown costs or sparse history</a:t>
            </a:r>
          </a:p>
        </p:txBody>
      </p:sp>
      <p:sp>
        <p:nvSpPr>
          <p:cNvPr id="6" name="">
            <a:extLst xmlns:a="http://schemas.openxmlformats.org/drawingml/2006/main">
              <a:ext uri="{FF2B5EF4-FFF2-40B4-BE49-F238E27FC236}">
                <a16:creationId xmlns:a16="http://schemas.microsoft.com/office/drawing/2014/main" id="{A24BD494-9244-4E37-935C-9A17820B50AB}"/>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Keep contribution unknown and explain abstention.</a:t>
            </a:r>
          </a:p>
        </p:txBody>
      </p:sp>
      <p:sp>
        <p:nvSpPr>
          <p:cNvPr id="7" name="">
            <a:extLst xmlns:a="http://schemas.openxmlformats.org/drawingml/2006/main">
              <a:ext uri="{FF2B5EF4-FFF2-40B4-BE49-F238E27FC236}">
                <a16:creationId xmlns:a16="http://schemas.microsoft.com/office/drawing/2014/main" id="{1AE79AB8-7A5D-43E2-BE27-0AAFFB6BA773}"/>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Any simulated advertising change</a:t>
            </a:r>
          </a:p>
        </p:txBody>
      </p:sp>
      <p:sp>
        <p:nvSpPr>
          <p:cNvPr id="8" name="">
            <a:extLst xmlns:a="http://schemas.openxmlformats.org/drawingml/2006/main">
              <a:ext uri="{FF2B5EF4-FFF2-40B4-BE49-F238E27FC236}">
                <a16:creationId xmlns:a16="http://schemas.microsoft.com/office/drawing/2014/main" id="{30BA4F0F-E1F2-49EF-863F-9DCFDE04839B}"/>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Require exact persisted approval, fresh revalidation and read-back.</a:t>
            </a:r>
          </a:p>
        </p:txBody>
      </p:sp>
      <p:sp>
        <p:nvSpPr>
          <p:cNvPr id="9" name="">
            <a:extLst xmlns:a="http://schemas.openxmlformats.org/drawingml/2006/main">
              <a:ext uri="{FF2B5EF4-FFF2-40B4-BE49-F238E27FC236}">
                <a16:creationId xmlns:a16="http://schemas.microsoft.com/office/drawing/2014/main" id="{BD269A7B-5412-4ECB-970A-21BB0170DE94}"/>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5 / 8</a:t>
            </a:r>
          </a:p>
        </p:txBody>
      </p:sp>
    </p:spTree>
    <p:extLst>
      <p:ext uri="{BB962C8B-B14F-4D97-AF65-F5344CB8AC3E}">
        <p14:creationId xmlns:p14="http://schemas.microsoft.com/office/powerpoint/2010/main" val="970095118"/>
      </p:ext>
    </p:extLst>
  </p:cSld>
</p:sld>
</file>

<file path=ppt/slides/slide6.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43452E-16F2-4C23-8F79-AE58B2EF91D8}"/>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A reproducible synthetic demonstration</a:t>
            </a:r>
          </a:p>
        </p:txBody>
      </p:sp>
      <p:sp>
        <p:nvSpPr>
          <p:cNvPr id="2" name="">
            <a:extLst xmlns:a="http://schemas.openxmlformats.org/drawingml/2006/main">
              <a:ext uri="{FF2B5EF4-FFF2-40B4-BE49-F238E27FC236}">
                <a16:creationId xmlns:a16="http://schemas.microsoft.com/office/drawing/2014/main" id="{382B8D93-AF5E-470C-BBB7-908CDFD0409D}"/>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Real databases with project-authored fixtures</a:t>
            </a:r>
          </a:p>
        </p:txBody>
      </p:sp>
      <p:sp>
        <p:nvSpPr>
          <p:cNvPr id="3" name="">
            <a:extLst xmlns:a="http://schemas.openxmlformats.org/drawingml/2006/main">
              <a:ext uri="{FF2B5EF4-FFF2-40B4-BE49-F238E27FC236}">
                <a16:creationId xmlns:a16="http://schemas.microsoft.com/office/drawing/2014/main" id="{F7E05E89-8624-4BC1-950A-20DA70AA3D82}"/>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3,000 orders</a:t>
            </a:r>
          </a:p>
        </p:txBody>
      </p:sp>
      <p:sp>
        <p:nvSpPr>
          <p:cNvPr id="4" name="">
            <a:extLst xmlns:a="http://schemas.openxmlformats.org/drawingml/2006/main">
              <a:ext uri="{FF2B5EF4-FFF2-40B4-BE49-F238E27FC236}">
                <a16:creationId xmlns:a16="http://schemas.microsoft.com/office/drawing/2014/main" id="{87360742-8206-46E8-A060-A946F24044C0}"/>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30 products, 180 variants and 1,000 synthetic customers.</a:t>
            </a:r>
          </a:p>
        </p:txBody>
      </p:sp>
      <p:sp>
        <p:nvSpPr>
          <p:cNvPr id="5" name="">
            <a:extLst xmlns:a="http://schemas.openxmlformats.org/drawingml/2006/main">
              <a:ext uri="{FF2B5EF4-FFF2-40B4-BE49-F238E27FC236}">
                <a16:creationId xmlns:a16="http://schemas.microsoft.com/office/drawing/2014/main" id="{D9CB04BE-84A4-41EC-985D-8A68F9CBBFA8}"/>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INR 300 contribution</a:t>
            </a:r>
          </a:p>
        </p:txBody>
      </p:sp>
      <p:sp>
        <p:nvSpPr>
          <p:cNvPr id="6" name="">
            <a:extLst xmlns:a="http://schemas.openxmlformats.org/drawingml/2006/main">
              <a:ext uri="{FF2B5EF4-FFF2-40B4-BE49-F238E27FC236}">
                <a16:creationId xmlns:a16="http://schemas.microsoft.com/office/drawing/2014/main" id="{BD1B1E0A-A4BB-4CBF-9E0B-4F4869FFAAA9}"/>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Foundation: 4,000 sales − 2,200 COGS − 500 variable costs − 1,000 ads.</a:t>
            </a:r>
          </a:p>
        </p:txBody>
      </p:sp>
      <p:sp>
        <p:nvSpPr>
          <p:cNvPr id="7" name="">
            <a:extLst xmlns:a="http://schemas.openxmlformats.org/drawingml/2006/main">
              <a:ext uri="{FF2B5EF4-FFF2-40B4-BE49-F238E27FC236}">
                <a16:creationId xmlns:a16="http://schemas.microsoft.com/office/drawing/2014/main" id="{84F4BE95-2E85-4A9B-A885-3E1F3815AB8D}"/>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INR 11,000 per day</a:t>
            </a:r>
          </a:p>
        </p:txBody>
      </p:sp>
      <p:sp>
        <p:nvSpPr>
          <p:cNvPr id="8" name="">
            <a:extLst xmlns:a="http://schemas.openxmlformats.org/drawingml/2006/main">
              <a:ext uri="{FF2B5EF4-FFF2-40B4-BE49-F238E27FC236}">
                <a16:creationId xmlns:a16="http://schemas.microsoft.com/office/drawing/2014/main" id="{C0CD96AA-CA14-4BFE-8862-6EB77BFF0B1A}"/>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Five default budgets preserve their exact total and remain frozen.</a:t>
            </a:r>
          </a:p>
        </p:txBody>
      </p:sp>
      <p:sp>
        <p:nvSpPr>
          <p:cNvPr id="9" name="">
            <a:extLst xmlns:a="http://schemas.openxmlformats.org/drawingml/2006/main">
              <a:ext uri="{FF2B5EF4-FFF2-40B4-BE49-F238E27FC236}">
                <a16:creationId xmlns:a16="http://schemas.microsoft.com/office/drawing/2014/main" id="{3C369191-C672-417E-A520-C444A57C86D7}"/>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6 / 8</a:t>
            </a:r>
          </a:p>
        </p:txBody>
      </p:sp>
    </p:spTree>
    <p:extLst>
      <p:ext uri="{BB962C8B-B14F-4D97-AF65-F5344CB8AC3E}">
        <p14:creationId xmlns:p14="http://schemas.microsoft.com/office/powerpoint/2010/main" val="174527612"/>
      </p:ext>
    </p:extLst>
  </p:cSld>
</p:sld>
</file>

<file path=ppt/slides/slide7.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48F71E-D947-44AD-8519-206FE2F51843}"/>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Verified behavior and remaining gaps</a:t>
            </a:r>
          </a:p>
        </p:txBody>
      </p:sp>
      <p:sp>
        <p:nvSpPr>
          <p:cNvPr id="2" name="">
            <a:extLst xmlns:a="http://schemas.openxmlformats.org/drawingml/2006/main">
              <a:ext uri="{FF2B5EF4-FFF2-40B4-BE49-F238E27FC236}">
                <a16:creationId xmlns:a16="http://schemas.microsoft.com/office/drawing/2014/main" id="{DE40C0A4-AB28-4870-838B-8B94E027E45D}"/>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Recorded evidence as of October 31, 2026 IST</a:t>
            </a:r>
          </a:p>
        </p:txBody>
      </p:sp>
      <p:sp>
        <p:nvSpPr>
          <p:cNvPr id="3" name="">
            <a:extLst xmlns:a="http://schemas.openxmlformats.org/drawingml/2006/main">
              <a:ext uri="{FF2B5EF4-FFF2-40B4-BE49-F238E27FC236}">
                <a16:creationId xmlns:a16="http://schemas.microsoft.com/office/drawing/2014/main" id="{05DBEFE6-588F-4E91-9CAF-AA815C3A2A60}"/>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269 real-store passes</a:t>
            </a:r>
          </a:p>
        </p:txBody>
      </p:sp>
      <p:sp>
        <p:nvSpPr>
          <p:cNvPr id="4" name="">
            <a:extLst xmlns:a="http://schemas.openxmlformats.org/drawingml/2006/main">
              <a:ext uri="{FF2B5EF4-FFF2-40B4-BE49-F238E27FC236}">
                <a16:creationId xmlns:a16="http://schemas.microsoft.com/office/drawing/2014/main" id="{4CF0EA28-616C-421D-BE55-B9A560391B5E}"/>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Phase 13 broad non-mutating regression, plus a separate focused pass.</a:t>
            </a:r>
          </a:p>
        </p:txBody>
      </p:sp>
      <p:sp>
        <p:nvSpPr>
          <p:cNvPr id="5" name="">
            <a:extLst xmlns:a="http://schemas.openxmlformats.org/drawingml/2006/main">
              <a:ext uri="{FF2B5EF4-FFF2-40B4-BE49-F238E27FC236}">
                <a16:creationId xmlns:a16="http://schemas.microsoft.com/office/drawing/2014/main" id="{7B15CFCD-3A79-441F-AC78-0BCB31983C4C}"/>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Healthy and actual outage</a:t>
            </a:r>
          </a:p>
        </p:txBody>
      </p:sp>
      <p:sp>
        <p:nvSpPr>
          <p:cNvPr id="6" name="">
            <a:extLst xmlns:a="http://schemas.openxmlformats.org/drawingml/2006/main">
              <a:ext uri="{FF2B5EF4-FFF2-40B4-BE49-F238E27FC236}">
                <a16:creationId xmlns:a16="http://schemas.microsoft.com/office/drawing/2014/main" id="{103292DC-9384-464B-B6DE-966F56F4A2B6}"/>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Each Phase 13 browser run: 15 passed, 12 mode skips.</a:t>
            </a:r>
          </a:p>
        </p:txBody>
      </p:sp>
      <p:sp>
        <p:nvSpPr>
          <p:cNvPr id="7" name="">
            <a:extLst xmlns:a="http://schemas.openxmlformats.org/drawingml/2006/main">
              <a:ext uri="{FF2B5EF4-FFF2-40B4-BE49-F238E27FC236}">
                <a16:creationId xmlns:a16="http://schemas.microsoft.com/office/drawing/2014/main" id="{66828EC2-197A-47C1-8FD3-09CBF114800D}"/>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Current boundary</a:t>
            </a:r>
          </a:p>
        </p:txBody>
      </p:sp>
      <p:sp>
        <p:nvSpPr>
          <p:cNvPr id="8" name="">
            <a:extLst xmlns:a="http://schemas.openxmlformats.org/drawingml/2006/main">
              <a:ext uri="{FF2B5EF4-FFF2-40B4-BE49-F238E27FC236}">
                <a16:creationId xmlns:a16="http://schemas.microsoft.com/office/drawing/2014/main" id="{5B612364-DAD7-4BA1-AEC2-5F5AAD26BE64}"/>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Synthetic local scope. Live fidelity and production readiness remain unverified.</a:t>
            </a:r>
          </a:p>
        </p:txBody>
      </p:sp>
      <p:sp>
        <p:nvSpPr>
          <p:cNvPr id="9" name="">
            <a:extLst xmlns:a="http://schemas.openxmlformats.org/drawingml/2006/main">
              <a:ext uri="{FF2B5EF4-FFF2-40B4-BE49-F238E27FC236}">
                <a16:creationId xmlns:a16="http://schemas.microsoft.com/office/drawing/2014/main" id="{F75F70BB-5580-4B90-BDDA-DAF71FD385E4}"/>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7 / 8</a:t>
            </a:r>
          </a:p>
        </p:txBody>
      </p:sp>
    </p:spTree>
    <p:extLst>
      <p:ext uri="{BB962C8B-B14F-4D97-AF65-F5344CB8AC3E}">
        <p14:creationId xmlns:p14="http://schemas.microsoft.com/office/powerpoint/2010/main" val="2006572679"/>
      </p:ext>
    </p:extLst>
  </p:cSld>
</p:sld>
</file>

<file path=ppt/slides/slide8.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21D05D-E4B3-436C-886C-F1D81AFFC4E1}"/>
              </a:ext>
            </a:extLst>
          </p:cNvPr>
          <p:cNvSpPr>
            <a:spLocks xmlns:a="http://schemas.openxmlformats.org/drawingml/2006/main" noGrp="1"/>
          </p:cNvSpPr>
          <p:nvPr/>
        </p:nvSpPr>
        <p:spPr>
          <a:xfrm xmlns:a="http://schemas.openxmlformats.org/drawingml/2006/main">
            <a:off x="723900" y="55245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538"/>
                </a:solidFill>
                <a:latin typeface="Segoe UI"/>
                <a:ea typeface="Segoe UI"/>
                <a:cs typeface="Segoe UI"/>
              </a:defRPr>
            </a:defPPr>
            <a:lvl1pPr>
              <a:defRPr sz="3450" b="1">
                <a:solidFill>
                  <a:srgbClr val="102538"/>
                </a:solidFill>
                <a:latin typeface="Segoe UI"/>
                <a:ea typeface="Segoe UI"/>
                <a:cs typeface="Segoe UI"/>
              </a:defRPr>
            </a:lvl1pPr>
            <a:lvl2pPr>
              <a:defRPr sz="3450" b="1">
                <a:solidFill>
                  <a:srgbClr val="102538"/>
                </a:solidFill>
                <a:latin typeface="Segoe UI"/>
                <a:ea typeface="Segoe UI"/>
                <a:cs typeface="Segoe UI"/>
              </a:defRPr>
            </a:lvl2pPr>
            <a:lvl3pPr>
              <a:defRPr sz="3450" b="1">
                <a:solidFill>
                  <a:srgbClr val="102538"/>
                </a:solidFill>
                <a:latin typeface="Segoe UI"/>
                <a:ea typeface="Segoe UI"/>
                <a:cs typeface="Segoe UI"/>
              </a:defRPr>
            </a:lvl3pPr>
            <a:lvl4pPr>
              <a:defRPr sz="3450" b="1">
                <a:solidFill>
                  <a:srgbClr val="102538"/>
                </a:solidFill>
                <a:latin typeface="Segoe UI"/>
                <a:ea typeface="Segoe UI"/>
                <a:cs typeface="Segoe UI"/>
              </a:defRPr>
            </a:lvl4pPr>
            <a:lvl5pPr>
              <a:defRPr sz="3450" b="1">
                <a:solidFill>
                  <a:srgbClr val="102538"/>
                </a:solidFill>
                <a:latin typeface="Segoe UI"/>
                <a:ea typeface="Segoe UI"/>
                <a:cs typeface="Segoe UI"/>
              </a:defRPr>
            </a:lvl5pPr>
            <a:lvl6pPr>
              <a:defRPr sz="3450" b="1">
                <a:solidFill>
                  <a:srgbClr val="102538"/>
                </a:solidFill>
                <a:latin typeface="Segoe UI"/>
                <a:ea typeface="Segoe UI"/>
                <a:cs typeface="Segoe UI"/>
              </a:defRPr>
            </a:lvl6pPr>
            <a:lvl7pPr>
              <a:defRPr sz="3450" b="1">
                <a:solidFill>
                  <a:srgbClr val="102538"/>
                </a:solidFill>
                <a:latin typeface="Segoe UI"/>
                <a:ea typeface="Segoe UI"/>
                <a:cs typeface="Segoe UI"/>
              </a:defRPr>
            </a:lvl7pPr>
            <a:lvl8pPr>
              <a:defRPr sz="3450" b="1">
                <a:solidFill>
                  <a:srgbClr val="102538"/>
                </a:solidFill>
                <a:latin typeface="Segoe UI"/>
                <a:ea typeface="Segoe UI"/>
                <a:cs typeface="Segoe UI"/>
              </a:defRPr>
            </a:lvl8pPr>
            <a:lvl9pPr>
              <a:defRPr sz="3450" b="1">
                <a:solidFill>
                  <a:srgbClr val="102538"/>
                </a:solidFill>
                <a:latin typeface="Segoe UI"/>
                <a:ea typeface="Segoe UI"/>
                <a:cs typeface="Segoe UI"/>
              </a:defRPr>
            </a:lvl9pPr>
          </a:lstStyle>
          <a:p xmlns:a="http://schemas.openxmlformats.org/drawingml/2006/main">
            <a:pPr>
              <a:defRPr sz="3450" b="1">
                <a:solidFill>
                  <a:srgbClr val="102538"/>
                </a:solidFill>
                <a:latin typeface="Segoe UI"/>
                <a:ea typeface="Segoe UI"/>
                <a:cs typeface="Segoe UI"/>
              </a:defRPr>
            </a:pPr>
            <a:r>
              <a:rPr sz="3450" b="1">
                <a:solidFill>
                  <a:srgbClr val="102538"/>
                </a:solidFill>
                <a:latin typeface="Segoe UI"/>
                <a:ea typeface="Segoe UI"/>
                <a:cs typeface="Segoe UI"/>
              </a:rPr>
              <a:t>Run the prototype locally</a:t>
            </a:r>
          </a:p>
        </p:txBody>
      </p:sp>
      <p:sp>
        <p:nvSpPr>
          <p:cNvPr id="2" name="">
            <a:extLst xmlns:a="http://schemas.openxmlformats.org/drawingml/2006/main">
              <a:ext uri="{FF2B5EF4-FFF2-40B4-BE49-F238E27FC236}">
                <a16:creationId xmlns:a16="http://schemas.microsoft.com/office/drawing/2014/main" id="{90E4F6AC-8FE6-44A2-B029-88E2F39A3FBF}"/>
              </a:ext>
            </a:extLst>
          </p:cNvPr>
          <p:cNvSpPr>
            <a:spLocks xmlns:a="http://schemas.openxmlformats.org/drawingml/2006/main" noGrp="1"/>
          </p:cNvSpPr>
          <p:nvPr/>
        </p:nvSpPr>
        <p:spPr>
          <a:xfrm xmlns:a="http://schemas.openxmlformats.org/drawingml/2006/main">
            <a:off x="752475"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7F78"/>
                </a:solidFill>
                <a:latin typeface="Segoe UI"/>
                <a:ea typeface="Segoe UI"/>
                <a:cs typeface="Segoe UI"/>
              </a:defRPr>
            </a:defPPr>
            <a:lvl1pPr>
              <a:defRPr sz="1875" b="0">
                <a:solidFill>
                  <a:srgbClr val="007F78"/>
                </a:solidFill>
                <a:latin typeface="Segoe UI"/>
                <a:ea typeface="Segoe UI"/>
                <a:cs typeface="Segoe UI"/>
              </a:defRPr>
            </a:lvl1pPr>
            <a:lvl2pPr>
              <a:defRPr sz="1875" b="0">
                <a:solidFill>
                  <a:srgbClr val="007F78"/>
                </a:solidFill>
                <a:latin typeface="Segoe UI"/>
                <a:ea typeface="Segoe UI"/>
                <a:cs typeface="Segoe UI"/>
              </a:defRPr>
            </a:lvl2pPr>
            <a:lvl3pPr>
              <a:defRPr sz="1875" b="0">
                <a:solidFill>
                  <a:srgbClr val="007F78"/>
                </a:solidFill>
                <a:latin typeface="Segoe UI"/>
                <a:ea typeface="Segoe UI"/>
                <a:cs typeface="Segoe UI"/>
              </a:defRPr>
            </a:lvl3pPr>
            <a:lvl4pPr>
              <a:defRPr sz="1875" b="0">
                <a:solidFill>
                  <a:srgbClr val="007F78"/>
                </a:solidFill>
                <a:latin typeface="Segoe UI"/>
                <a:ea typeface="Segoe UI"/>
                <a:cs typeface="Segoe UI"/>
              </a:defRPr>
            </a:lvl4pPr>
            <a:lvl5pPr>
              <a:defRPr sz="1875" b="0">
                <a:solidFill>
                  <a:srgbClr val="007F78"/>
                </a:solidFill>
                <a:latin typeface="Segoe UI"/>
                <a:ea typeface="Segoe UI"/>
                <a:cs typeface="Segoe UI"/>
              </a:defRPr>
            </a:lvl5pPr>
            <a:lvl6pPr>
              <a:defRPr sz="1875" b="0">
                <a:solidFill>
                  <a:srgbClr val="007F78"/>
                </a:solidFill>
                <a:latin typeface="Segoe UI"/>
                <a:ea typeface="Segoe UI"/>
                <a:cs typeface="Segoe UI"/>
              </a:defRPr>
            </a:lvl6pPr>
            <a:lvl7pPr>
              <a:defRPr sz="1875" b="0">
                <a:solidFill>
                  <a:srgbClr val="007F78"/>
                </a:solidFill>
                <a:latin typeface="Segoe UI"/>
                <a:ea typeface="Segoe UI"/>
                <a:cs typeface="Segoe UI"/>
              </a:defRPr>
            </a:lvl7pPr>
            <a:lvl8pPr>
              <a:defRPr sz="1875" b="0">
                <a:solidFill>
                  <a:srgbClr val="007F78"/>
                </a:solidFill>
                <a:latin typeface="Segoe UI"/>
                <a:ea typeface="Segoe UI"/>
                <a:cs typeface="Segoe UI"/>
              </a:defRPr>
            </a:lvl8pPr>
            <a:lvl9pPr>
              <a:defRPr sz="1875" b="0">
                <a:solidFill>
                  <a:srgbClr val="007F78"/>
                </a:solidFill>
                <a:latin typeface="Segoe UI"/>
                <a:ea typeface="Segoe UI"/>
                <a:cs typeface="Segoe UI"/>
              </a:defRPr>
            </a:lvl9pPr>
          </a:lstStyle>
          <a:p xmlns:a="http://schemas.openxmlformats.org/drawingml/2006/main">
            <a:pPr>
              <a:defRPr sz="1875" b="0">
                <a:solidFill>
                  <a:srgbClr val="007F78"/>
                </a:solidFill>
                <a:latin typeface="Segoe UI"/>
                <a:ea typeface="Segoe UI"/>
                <a:cs typeface="Segoe UI"/>
              </a:defRPr>
            </a:pPr>
            <a:r>
              <a:rPr sz="1875" b="0">
                <a:solidFill>
                  <a:srgbClr val="007F78"/>
                </a:solidFill>
                <a:latin typeface="Segoe UI"/>
                <a:ea typeface="Segoe UI"/>
                <a:cs typeface="Segoe UI"/>
              </a:rPr>
              <a:t>Public source and reproducible inputs</a:t>
            </a:r>
          </a:p>
        </p:txBody>
      </p:sp>
      <p:sp>
        <p:nvSpPr>
          <p:cNvPr id="3" name="">
            <a:extLst xmlns:a="http://schemas.openxmlformats.org/drawingml/2006/main">
              <a:ext uri="{FF2B5EF4-FFF2-40B4-BE49-F238E27FC236}">
                <a16:creationId xmlns:a16="http://schemas.microsoft.com/office/drawing/2014/main" id="{20640A94-3AC6-4475-A797-8761DF5AE233}"/>
              </a:ext>
            </a:extLst>
          </p:cNvPr>
          <p:cNvSpPr>
            <a:spLocks xmlns:a="http://schemas.openxmlformats.org/drawingml/2006/main" noGrp="1"/>
          </p:cNvSpPr>
          <p:nvPr/>
        </p:nvSpPr>
        <p:spPr>
          <a:xfrm xmlns:a="http://schemas.openxmlformats.org/drawingml/2006/main">
            <a:off x="762000" y="23622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Repository</a:t>
            </a:r>
          </a:p>
        </p:txBody>
      </p:sp>
      <p:sp>
        <p:nvSpPr>
          <p:cNvPr id="4" name="">
            <a:extLst xmlns:a="http://schemas.openxmlformats.org/drawingml/2006/main">
              <a:ext uri="{FF2B5EF4-FFF2-40B4-BE49-F238E27FC236}">
                <a16:creationId xmlns:a16="http://schemas.microsoft.com/office/drawing/2014/main" id="{B0B0CD83-6B99-4BF1-B438-EFC90C60A367}"/>
              </a:ext>
            </a:extLst>
          </p:cNvPr>
          <p:cNvSpPr>
            <a:spLocks xmlns:a="http://schemas.openxmlformats.org/drawingml/2006/main" noGrp="1"/>
          </p:cNvSpPr>
          <p:nvPr/>
        </p:nvSpPr>
        <p:spPr>
          <a:xfrm xmlns:a="http://schemas.openxmlformats.org/drawingml/2006/main">
            <a:off x="4381500" y="236220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github.com/garv2412/AdVergent</a:t>
            </a:r>
          </a:p>
        </p:txBody>
      </p:sp>
      <p:sp>
        <p:nvSpPr>
          <p:cNvPr id="5" name="">
            <a:extLst xmlns:a="http://schemas.openxmlformats.org/drawingml/2006/main">
              <a:ext uri="{FF2B5EF4-FFF2-40B4-BE49-F238E27FC236}">
                <a16:creationId xmlns:a16="http://schemas.microsoft.com/office/drawing/2014/main" id="{B8239AC9-8E0A-4FF9-8D09-3EE7A827DA7C}"/>
              </a:ext>
            </a:extLst>
          </p:cNvPr>
          <p:cNvSpPr>
            <a:spLocks xmlns:a="http://schemas.openxmlformats.org/drawingml/2006/main" noGrp="1"/>
          </p:cNvSpPr>
          <p:nvPr/>
        </p:nvSpPr>
        <p:spPr>
          <a:xfrm xmlns:a="http://schemas.openxmlformats.org/drawingml/2006/main">
            <a:off x="762000" y="3552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Setup and run</a:t>
            </a:r>
          </a:p>
        </p:txBody>
      </p:sp>
      <p:sp>
        <p:nvSpPr>
          <p:cNvPr id="6" name="">
            <a:extLst xmlns:a="http://schemas.openxmlformats.org/drawingml/2006/main">
              <a:ext uri="{FF2B5EF4-FFF2-40B4-BE49-F238E27FC236}">
                <a16:creationId xmlns:a16="http://schemas.microsoft.com/office/drawing/2014/main" id="{C8146D53-EE3B-4438-BA08-63A27260C6D1}"/>
              </a:ext>
            </a:extLst>
          </p:cNvPr>
          <p:cNvSpPr>
            <a:spLocks xmlns:a="http://schemas.openxmlformats.org/drawingml/2006/main" noGrp="1"/>
          </p:cNvSpPr>
          <p:nvPr/>
        </p:nvSpPr>
        <p:spPr>
          <a:xfrm xmlns:a="http://schemas.openxmlformats.org/drawingml/2006/main">
            <a:off x="4381500" y="3552825"/>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README.md and docs/phase-1-setup.md document dependencies and ordered imports.</a:t>
            </a:r>
          </a:p>
        </p:txBody>
      </p:sp>
      <p:sp>
        <p:nvSpPr>
          <p:cNvPr id="7" name="">
            <a:extLst xmlns:a="http://schemas.openxmlformats.org/drawingml/2006/main">
              <a:ext uri="{FF2B5EF4-FFF2-40B4-BE49-F238E27FC236}">
                <a16:creationId xmlns:a16="http://schemas.microsoft.com/office/drawing/2014/main" id="{562CDCE7-1BA0-4097-800A-73F77D5A2078}"/>
              </a:ext>
            </a:extLst>
          </p:cNvPr>
          <p:cNvSpPr>
            <a:spLocks xmlns:a="http://schemas.openxmlformats.org/drawingml/2006/main" noGrp="1"/>
          </p:cNvSpPr>
          <p:nvPr/>
        </p:nvSpPr>
        <p:spPr>
          <a:xfrm xmlns:a="http://schemas.openxmlformats.org/drawingml/2006/main">
            <a:off x="762000" y="47434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538"/>
                </a:solidFill>
                <a:latin typeface="Segoe UI"/>
                <a:ea typeface="Segoe UI"/>
                <a:cs typeface="Segoe UI"/>
              </a:defRPr>
            </a:defPPr>
            <a:lvl1pPr>
              <a:defRPr sz="2175" b="1">
                <a:solidFill>
                  <a:srgbClr val="102538"/>
                </a:solidFill>
                <a:latin typeface="Segoe UI"/>
                <a:ea typeface="Segoe UI"/>
                <a:cs typeface="Segoe UI"/>
              </a:defRPr>
            </a:lvl1pPr>
            <a:lvl2pPr>
              <a:defRPr sz="2175" b="1">
                <a:solidFill>
                  <a:srgbClr val="102538"/>
                </a:solidFill>
                <a:latin typeface="Segoe UI"/>
                <a:ea typeface="Segoe UI"/>
                <a:cs typeface="Segoe UI"/>
              </a:defRPr>
            </a:lvl2pPr>
            <a:lvl3pPr>
              <a:defRPr sz="2175" b="1">
                <a:solidFill>
                  <a:srgbClr val="102538"/>
                </a:solidFill>
                <a:latin typeface="Segoe UI"/>
                <a:ea typeface="Segoe UI"/>
                <a:cs typeface="Segoe UI"/>
              </a:defRPr>
            </a:lvl3pPr>
            <a:lvl4pPr>
              <a:defRPr sz="2175" b="1">
                <a:solidFill>
                  <a:srgbClr val="102538"/>
                </a:solidFill>
                <a:latin typeface="Segoe UI"/>
                <a:ea typeface="Segoe UI"/>
                <a:cs typeface="Segoe UI"/>
              </a:defRPr>
            </a:lvl4pPr>
            <a:lvl5pPr>
              <a:defRPr sz="2175" b="1">
                <a:solidFill>
                  <a:srgbClr val="102538"/>
                </a:solidFill>
                <a:latin typeface="Segoe UI"/>
                <a:ea typeface="Segoe UI"/>
                <a:cs typeface="Segoe UI"/>
              </a:defRPr>
            </a:lvl5pPr>
            <a:lvl6pPr>
              <a:defRPr sz="2175" b="1">
                <a:solidFill>
                  <a:srgbClr val="102538"/>
                </a:solidFill>
                <a:latin typeface="Segoe UI"/>
                <a:ea typeface="Segoe UI"/>
                <a:cs typeface="Segoe UI"/>
              </a:defRPr>
            </a:lvl6pPr>
            <a:lvl7pPr>
              <a:defRPr sz="2175" b="1">
                <a:solidFill>
                  <a:srgbClr val="102538"/>
                </a:solidFill>
                <a:latin typeface="Segoe UI"/>
                <a:ea typeface="Segoe UI"/>
                <a:cs typeface="Segoe UI"/>
              </a:defRPr>
            </a:lvl7pPr>
            <a:lvl8pPr>
              <a:defRPr sz="2175" b="1">
                <a:solidFill>
                  <a:srgbClr val="102538"/>
                </a:solidFill>
                <a:latin typeface="Segoe UI"/>
                <a:ea typeface="Segoe UI"/>
                <a:cs typeface="Segoe UI"/>
              </a:defRPr>
            </a:lvl8pPr>
            <a:lvl9pPr>
              <a:defRPr sz="2175" b="1">
                <a:solidFill>
                  <a:srgbClr val="102538"/>
                </a:solidFill>
                <a:latin typeface="Segoe UI"/>
                <a:ea typeface="Segoe UI"/>
                <a:cs typeface="Segoe UI"/>
              </a:defRPr>
            </a:lvl9pPr>
          </a:lstStyle>
          <a:p xmlns:a="http://schemas.openxmlformats.org/drawingml/2006/main">
            <a:pPr>
              <a:defRPr sz="2175" b="1">
                <a:solidFill>
                  <a:srgbClr val="102538"/>
                </a:solidFill>
                <a:latin typeface="Segoe UI"/>
                <a:ea typeface="Segoe UI"/>
                <a:cs typeface="Segoe UI"/>
              </a:defRPr>
            </a:pPr>
            <a:r>
              <a:rPr sz="2175" b="1">
                <a:solidFill>
                  <a:srgbClr val="102538"/>
                </a:solidFill>
                <a:latin typeface="Segoe UI"/>
                <a:ea typeface="Segoe UI"/>
                <a:cs typeface="Segoe UI"/>
              </a:rPr>
              <a:t>Data and licence</a:t>
            </a:r>
          </a:p>
        </p:txBody>
      </p:sp>
      <p:sp>
        <p:nvSpPr>
          <p:cNvPr id="8" name="">
            <a:extLst xmlns:a="http://schemas.openxmlformats.org/drawingml/2006/main">
              <a:ext uri="{FF2B5EF4-FFF2-40B4-BE49-F238E27FC236}">
                <a16:creationId xmlns:a16="http://schemas.microsoft.com/office/drawing/2014/main" id="{B7A7E52A-021F-4E89-A680-F8BC1CECAE65}"/>
              </a:ext>
            </a:extLst>
          </p:cNvPr>
          <p:cNvSpPr>
            <a:spLocks xmlns:a="http://schemas.openxmlformats.org/drawingml/2006/main" noGrp="1"/>
          </p:cNvSpPr>
          <p:nvPr/>
        </p:nvSpPr>
        <p:spPr>
          <a:xfrm xmlns:a="http://schemas.openxmlformats.org/drawingml/2006/main">
            <a:off x="4381500" y="4743450"/>
            <a:ext cx="700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8"/>
                </a:solidFill>
                <a:latin typeface="Segoe UI"/>
                <a:ea typeface="Segoe UI"/>
                <a:cs typeface="Segoe UI"/>
              </a:defRPr>
            </a:defPPr>
            <a:lvl1pPr>
              <a:defRPr sz="2100" b="0">
                <a:solidFill>
                  <a:srgbClr val="173448"/>
                </a:solidFill>
                <a:latin typeface="Segoe UI"/>
                <a:ea typeface="Segoe UI"/>
                <a:cs typeface="Segoe UI"/>
              </a:defRPr>
            </a:lvl1pPr>
            <a:lvl2pPr>
              <a:defRPr sz="2100" b="0">
                <a:solidFill>
                  <a:srgbClr val="173448"/>
                </a:solidFill>
                <a:latin typeface="Segoe UI"/>
                <a:ea typeface="Segoe UI"/>
                <a:cs typeface="Segoe UI"/>
              </a:defRPr>
            </a:lvl2pPr>
            <a:lvl3pPr>
              <a:defRPr sz="2100" b="0">
                <a:solidFill>
                  <a:srgbClr val="173448"/>
                </a:solidFill>
                <a:latin typeface="Segoe UI"/>
                <a:ea typeface="Segoe UI"/>
                <a:cs typeface="Segoe UI"/>
              </a:defRPr>
            </a:lvl3pPr>
            <a:lvl4pPr>
              <a:defRPr sz="2100" b="0">
                <a:solidFill>
                  <a:srgbClr val="173448"/>
                </a:solidFill>
                <a:latin typeface="Segoe UI"/>
                <a:ea typeface="Segoe UI"/>
                <a:cs typeface="Segoe UI"/>
              </a:defRPr>
            </a:lvl4pPr>
            <a:lvl5pPr>
              <a:defRPr sz="2100" b="0">
                <a:solidFill>
                  <a:srgbClr val="173448"/>
                </a:solidFill>
                <a:latin typeface="Segoe UI"/>
                <a:ea typeface="Segoe UI"/>
                <a:cs typeface="Segoe UI"/>
              </a:defRPr>
            </a:lvl5pPr>
            <a:lvl6pPr>
              <a:defRPr sz="2100" b="0">
                <a:solidFill>
                  <a:srgbClr val="173448"/>
                </a:solidFill>
                <a:latin typeface="Segoe UI"/>
                <a:ea typeface="Segoe UI"/>
                <a:cs typeface="Segoe UI"/>
              </a:defRPr>
            </a:lvl6pPr>
            <a:lvl7pPr>
              <a:defRPr sz="2100" b="0">
                <a:solidFill>
                  <a:srgbClr val="173448"/>
                </a:solidFill>
                <a:latin typeface="Segoe UI"/>
                <a:ea typeface="Segoe UI"/>
                <a:cs typeface="Segoe UI"/>
              </a:defRPr>
            </a:lvl7pPr>
            <a:lvl8pPr>
              <a:defRPr sz="2100" b="0">
                <a:solidFill>
                  <a:srgbClr val="173448"/>
                </a:solidFill>
                <a:latin typeface="Segoe UI"/>
                <a:ea typeface="Segoe UI"/>
                <a:cs typeface="Segoe UI"/>
              </a:defRPr>
            </a:lvl8pPr>
            <a:lvl9pPr>
              <a:defRPr sz="2100" b="0">
                <a:solidFill>
                  <a:srgbClr val="173448"/>
                </a:solidFill>
                <a:latin typeface="Segoe UI"/>
                <a:ea typeface="Segoe UI"/>
                <a:cs typeface="Segoe UI"/>
              </a:defRPr>
            </a:lvl9pPr>
          </a:lstStyle>
          <a:p xmlns:a="http://schemas.openxmlformats.org/drawingml/2006/main">
            <a:pPr>
              <a:defRPr sz="2100" b="0">
                <a:solidFill>
                  <a:srgbClr val="173448"/>
                </a:solidFill>
                <a:latin typeface="Segoe UI"/>
                <a:ea typeface="Segoe UI"/>
                <a:cs typeface="Segoe UI"/>
              </a:defRPr>
            </a:pPr>
            <a:r>
              <a:rPr sz="2100" b="0">
                <a:solidFill>
                  <a:srgbClr val="173448"/>
                </a:solidFill>
                <a:latin typeface="Segoe UI"/>
                <a:ea typeface="Segoe UI"/>
                <a:cs typeface="Segoe UI"/>
              </a:rPr>
              <a:t>Project-authored synthetic fixtures under the repository MIT licence.</a:t>
            </a:r>
          </a:p>
        </p:txBody>
      </p:sp>
      <p:sp>
        <p:nvSpPr>
          <p:cNvPr id="9" name="">
            <a:extLst xmlns:a="http://schemas.openxmlformats.org/drawingml/2006/main">
              <a:ext uri="{FF2B5EF4-FFF2-40B4-BE49-F238E27FC236}">
                <a16:creationId xmlns:a16="http://schemas.microsoft.com/office/drawing/2014/main" id="{7EC7AE29-8EB2-48B6-BB71-58D5709784D2}"/>
              </a:ext>
            </a:extLst>
          </p:cNvPr>
          <p:cNvSpPr>
            <a:spLocks xmlns:a="http://schemas.openxmlformats.org/drawingml/2006/main" noGrp="1"/>
          </p:cNvSpPr>
          <p:nvPr/>
        </p:nvSpPr>
        <p:spPr>
          <a:xfrm xmlns:a="http://schemas.openxmlformats.org/drawingml/2006/main">
            <a:off x="106680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577"/>
                </a:solidFill>
                <a:latin typeface="Segoe UI"/>
                <a:ea typeface="Segoe UI"/>
                <a:cs typeface="Segoe UI"/>
              </a:defRPr>
            </a:defPPr>
            <a:lvl1pPr>
              <a:defRPr sz="1275" b="0">
                <a:solidFill>
                  <a:srgbClr val="506577"/>
                </a:solidFill>
                <a:latin typeface="Segoe UI"/>
                <a:ea typeface="Segoe UI"/>
                <a:cs typeface="Segoe UI"/>
              </a:defRPr>
            </a:lvl1pPr>
            <a:lvl2pPr>
              <a:defRPr sz="1275" b="0">
                <a:solidFill>
                  <a:srgbClr val="506577"/>
                </a:solidFill>
                <a:latin typeface="Segoe UI"/>
                <a:ea typeface="Segoe UI"/>
                <a:cs typeface="Segoe UI"/>
              </a:defRPr>
            </a:lvl2pPr>
            <a:lvl3pPr>
              <a:defRPr sz="1275" b="0">
                <a:solidFill>
                  <a:srgbClr val="506577"/>
                </a:solidFill>
                <a:latin typeface="Segoe UI"/>
                <a:ea typeface="Segoe UI"/>
                <a:cs typeface="Segoe UI"/>
              </a:defRPr>
            </a:lvl3pPr>
            <a:lvl4pPr>
              <a:defRPr sz="1275" b="0">
                <a:solidFill>
                  <a:srgbClr val="506577"/>
                </a:solidFill>
                <a:latin typeface="Segoe UI"/>
                <a:ea typeface="Segoe UI"/>
                <a:cs typeface="Segoe UI"/>
              </a:defRPr>
            </a:lvl4pPr>
            <a:lvl5pPr>
              <a:defRPr sz="1275" b="0">
                <a:solidFill>
                  <a:srgbClr val="506577"/>
                </a:solidFill>
                <a:latin typeface="Segoe UI"/>
                <a:ea typeface="Segoe UI"/>
                <a:cs typeface="Segoe UI"/>
              </a:defRPr>
            </a:lvl5pPr>
            <a:lvl6pPr>
              <a:defRPr sz="1275" b="0">
                <a:solidFill>
                  <a:srgbClr val="506577"/>
                </a:solidFill>
                <a:latin typeface="Segoe UI"/>
                <a:ea typeface="Segoe UI"/>
                <a:cs typeface="Segoe UI"/>
              </a:defRPr>
            </a:lvl6pPr>
            <a:lvl7pPr>
              <a:defRPr sz="1275" b="0">
                <a:solidFill>
                  <a:srgbClr val="506577"/>
                </a:solidFill>
                <a:latin typeface="Segoe UI"/>
                <a:ea typeface="Segoe UI"/>
                <a:cs typeface="Segoe UI"/>
              </a:defRPr>
            </a:lvl7pPr>
            <a:lvl8pPr>
              <a:defRPr sz="1275" b="0">
                <a:solidFill>
                  <a:srgbClr val="506577"/>
                </a:solidFill>
                <a:latin typeface="Segoe UI"/>
                <a:ea typeface="Segoe UI"/>
                <a:cs typeface="Segoe UI"/>
              </a:defRPr>
            </a:lvl8pPr>
            <a:lvl9pPr>
              <a:defRPr sz="1275" b="0">
                <a:solidFill>
                  <a:srgbClr val="506577"/>
                </a:solidFill>
                <a:latin typeface="Segoe UI"/>
                <a:ea typeface="Segoe UI"/>
                <a:cs typeface="Segoe UI"/>
              </a:defRPr>
            </a:lvl9pPr>
          </a:lstStyle>
          <a:p xmlns:a="http://schemas.openxmlformats.org/drawingml/2006/main">
            <a:pPr>
              <a:defRPr sz="1275" b="0">
                <a:solidFill>
                  <a:srgbClr val="506577"/>
                </a:solidFill>
                <a:latin typeface="Segoe UI"/>
                <a:ea typeface="Segoe UI"/>
                <a:cs typeface="Segoe UI"/>
              </a:defRPr>
            </a:pPr>
            <a:r>
              <a:rPr sz="1275" b="0">
                <a:solidFill>
                  <a:srgbClr val="506577"/>
                </a:solidFill>
                <a:latin typeface="Segoe UI"/>
                <a:ea typeface="Segoe UI"/>
                <a:cs typeface="Segoe UI"/>
              </a:rPr>
              <a:t>8 / 8</a:t>
            </a:r>
          </a:p>
        </p:txBody>
      </p:sp>
    </p:spTree>
    <p:extLst>
      <p:ext uri="{BB962C8B-B14F-4D97-AF65-F5344CB8AC3E}">
        <p14:creationId xmlns:p14="http://schemas.microsoft.com/office/powerpoint/2010/main" val="1669897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2026-10-31T04:27:54.3760000Z</dcterms:created>
  <dcterms:modified xsi:type="dcterms:W3CDTF">2026-10-31T04:27:54.3760000Z</dcterms:modified>
</coreProperties>
</file>